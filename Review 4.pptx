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6" r:id="rId10"/>
    <p:sldId id="262" r:id="rId11"/>
    <p:sldId id="263" r:id="rId12"/>
  </p:sldIdLst>
  <p:sldSz cx="14630400" cy="8229600"/>
  <p:notesSz cx="8229600" cy="146304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Inter Light" panose="020B0604020202020204" charset="0"/>
      <p:regular r:id="rId18"/>
    </p:embeddedFont>
    <p:embeddedFont>
      <p:font typeface="Montserrat Medium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0619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jpeg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10.pn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jpe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28945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TastyTalks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338393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An Engaging Social Platform Designed for Food Enthusiasts, Chefs, and Interactive Recipe Communities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4432730"/>
            <a:ext cx="7556421" cy="35957"/>
          </a:xfrm>
          <a:prstGeom prst="rect">
            <a:avLst/>
          </a:prstGeom>
          <a:solidFill>
            <a:srgbClr val="3D3E44">
              <a:alpha val="50000"/>
            </a:srgbClr>
          </a:solidFill>
          <a:ln/>
        </p:spPr>
      </p:sp>
      <p:sp>
        <p:nvSpPr>
          <p:cNvPr id="8" name="Text 4"/>
          <p:cNvSpPr/>
          <p:nvPr/>
        </p:nvSpPr>
        <p:spPr>
          <a:xfrm>
            <a:off x="6567964" y="5214223"/>
            <a:ext cx="726864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E00D889-C7DF-44E6-81DC-D07A40FD43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1600" y="7334613"/>
            <a:ext cx="1724529" cy="8185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1999" y="833080"/>
            <a:ext cx="5372219" cy="671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Accuracy of Results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751999" y="1809869"/>
            <a:ext cx="7640003" cy="669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TastyTalks ensures content integrity through a layered validation framework that minimizes misinformation and duplicate recipes.</a:t>
            </a:r>
            <a:endParaRPr lang="en-US" sz="1650" dirty="0"/>
          </a:p>
        </p:txBody>
      </p:sp>
      <p:sp>
        <p:nvSpPr>
          <p:cNvPr id="5" name="Shape 2"/>
          <p:cNvSpPr/>
          <p:nvPr/>
        </p:nvSpPr>
        <p:spPr>
          <a:xfrm>
            <a:off x="751999" y="2708434"/>
            <a:ext cx="3718203" cy="2912388"/>
          </a:xfrm>
          <a:prstGeom prst="roundRect">
            <a:avLst>
              <a:gd name="adj" fmla="val 6641"/>
            </a:avLst>
          </a:prstGeom>
          <a:solidFill>
            <a:srgbClr val="EFF0F6"/>
          </a:solidFill>
          <a:ln w="7620">
            <a:solidFill>
              <a:srgbClr val="C5C7D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74408" y="2930843"/>
            <a:ext cx="2999542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Role-Based Validation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974408" y="3388638"/>
            <a:ext cx="3273385" cy="1674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Chefs and verified contributors are granted elevated permissions to publish and moderate recipe content, ensuring authoritative accuracy.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4673679" y="2708434"/>
            <a:ext cx="3718322" cy="2912388"/>
          </a:xfrm>
          <a:prstGeom prst="roundRect">
            <a:avLst>
              <a:gd name="adj" fmla="val 6641"/>
            </a:avLst>
          </a:prstGeom>
          <a:solidFill>
            <a:srgbClr val="EFF0F6"/>
          </a:solidFill>
          <a:ln w="7620">
            <a:solidFill>
              <a:srgbClr val="C5C7D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96088" y="2930843"/>
            <a:ext cx="3273504" cy="671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User Ratings &amp; Feedback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4896088" y="3724394"/>
            <a:ext cx="3273504" cy="1674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Community-driven star ratings and structured review mechanisms flag low-quality or incorrect submissions for moderator review.</a:t>
            </a:r>
            <a:endParaRPr lang="en-US" sz="1650" dirty="0"/>
          </a:p>
        </p:txBody>
      </p:sp>
      <p:sp>
        <p:nvSpPr>
          <p:cNvPr id="11" name="Shape 8"/>
          <p:cNvSpPr/>
          <p:nvPr/>
        </p:nvSpPr>
        <p:spPr>
          <a:xfrm>
            <a:off x="751999" y="5824299"/>
            <a:ext cx="7640003" cy="1572220"/>
          </a:xfrm>
          <a:prstGeom prst="roundRect">
            <a:avLst>
              <a:gd name="adj" fmla="val 12301"/>
            </a:avLst>
          </a:prstGeom>
          <a:solidFill>
            <a:srgbClr val="EFF0F6"/>
          </a:solidFill>
          <a:ln w="7620">
            <a:solidFill>
              <a:srgbClr val="C5C7D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74408" y="6046708"/>
            <a:ext cx="2749748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Content Moderation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974408" y="6504503"/>
            <a:ext cx="7195185" cy="669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Automated duplication checks and admin moderation workflows reduce redundant posts and maintain a high-quality recipe repository.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8788" y="1195983"/>
            <a:ext cx="5496163" cy="591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Technical Competence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778788" y="2022295"/>
            <a:ext cx="1163003" cy="336113"/>
          </a:xfrm>
          <a:prstGeom prst="roundRect">
            <a:avLst>
              <a:gd name="adj" fmla="val 40585"/>
            </a:avLst>
          </a:prstGeom>
          <a:solidFill>
            <a:srgbClr val="DFE1EC"/>
          </a:solidFill>
          <a:ln/>
        </p:spPr>
      </p:sp>
      <p:sp>
        <p:nvSpPr>
          <p:cNvPr id="5" name="Text 2"/>
          <p:cNvSpPr/>
          <p:nvPr/>
        </p:nvSpPr>
        <p:spPr>
          <a:xfrm>
            <a:off x="892373" y="2095143"/>
            <a:ext cx="935831" cy="222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TECH STACK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778788" y="2606573"/>
            <a:ext cx="2368272" cy="295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Core Technologies</a:t>
            </a:r>
            <a:endParaRPr lang="en-US" sz="18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8290" y="3194870"/>
            <a:ext cx="284083" cy="28408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58597" y="3188916"/>
            <a:ext cx="2368272" cy="295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Frontend: React.js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1158597" y="3742865"/>
            <a:ext cx="3659386" cy="556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Responsive, component-driven UI with seamless state management</a:t>
            </a:r>
            <a:endParaRPr lang="en-US" sz="14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8289" y="4488215"/>
            <a:ext cx="284083" cy="28408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58597" y="4482261"/>
            <a:ext cx="2615327" cy="295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Backend: Spring Boot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1158597" y="5161797"/>
            <a:ext cx="3659386" cy="556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RESTful API design, JWT authentication, and role-based access control</a:t>
            </a:r>
            <a:endParaRPr lang="en-US" sz="14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8288" y="5965927"/>
            <a:ext cx="284083" cy="28408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58597" y="5945863"/>
            <a:ext cx="2368272" cy="295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Database: MySQL</a:t>
            </a:r>
            <a:endParaRPr lang="en-US" sz="1850" dirty="0"/>
          </a:p>
        </p:txBody>
      </p:sp>
      <p:sp>
        <p:nvSpPr>
          <p:cNvPr id="15" name="Text 9"/>
          <p:cNvSpPr/>
          <p:nvPr/>
        </p:nvSpPr>
        <p:spPr>
          <a:xfrm>
            <a:off x="1158597" y="6519863"/>
            <a:ext cx="3659386" cy="556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Relational schema supporting scalable user, recipe, and interaction data</a:t>
            </a:r>
            <a:endParaRPr lang="en-US" sz="1450" dirty="0"/>
          </a:p>
        </p:txBody>
      </p:sp>
      <p:pic>
        <p:nvPicPr>
          <p:cNvPr id="2050" name="Picture 2" descr="See the source image">
            <a:extLst>
              <a:ext uri="{FF2B5EF4-FFF2-40B4-BE49-F238E27FC236}">
                <a16:creationId xmlns:a16="http://schemas.microsoft.com/office/drawing/2014/main" id="{A1B2A6A7-83E8-4F78-8CC1-FC159811FF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15173" y="7405986"/>
            <a:ext cx="1735287" cy="823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4303" y="503396"/>
            <a:ext cx="6928842" cy="563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System Architecture Overview</a:t>
            </a:r>
            <a:endParaRPr lang="en-US" sz="3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303" y="1353383"/>
            <a:ext cx="12441674" cy="569392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07908" y="2103341"/>
            <a:ext cx="2752252" cy="344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API Gateway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10207908" y="2545231"/>
            <a:ext cx="3033593" cy="493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7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Spring Boot REST handling requests and routing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425166" y="3851404"/>
            <a:ext cx="2752252" cy="3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00"/>
              </a:lnSpc>
              <a:buNone/>
            </a:pPr>
            <a:r>
              <a:rPr lang="en-US" sz="21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Business Logic</a:t>
            </a: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1388470" y="4293293"/>
            <a:ext cx="2788948" cy="740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900"/>
              </a:lnSpc>
              <a:buNone/>
            </a:pPr>
            <a:r>
              <a:rPr lang="en-US" sz="17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Authentication, roles, moderation, and rules enforcement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0207908" y="4941219"/>
            <a:ext cx="2752252" cy="344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Core Database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10207908" y="5383108"/>
            <a:ext cx="3033593" cy="493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7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MySQL persistent storage for entities and relations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094303" y="7208520"/>
            <a:ext cx="12441674" cy="517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The platform follows a clean separation of concerns across four layers — ensuring maintainability, scalability, and secure role-based interactions from the client to persistent storage.</a:t>
            </a:r>
            <a:endParaRPr lang="en-US" sz="1400" dirty="0"/>
          </a:p>
        </p:txBody>
      </p:sp>
      <p:pic>
        <p:nvPicPr>
          <p:cNvPr id="11" name="Picture 2" descr="See the source image">
            <a:extLst>
              <a:ext uri="{FF2B5EF4-FFF2-40B4-BE49-F238E27FC236}">
                <a16:creationId xmlns:a16="http://schemas.microsoft.com/office/drawing/2014/main" id="{4ACA8369-DCB5-449C-8787-146C96993A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15173" y="7405986"/>
            <a:ext cx="1735287" cy="823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74356" y="632341"/>
            <a:ext cx="7568089" cy="1407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Innovative &amp; Sustainable Features</a:t>
            </a:r>
            <a:endParaRPr lang="en-US" sz="44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74356" y="2374821"/>
            <a:ext cx="562808" cy="56280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116485" y="2374821"/>
            <a:ext cx="3799403" cy="351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Social + Recipe Integration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116485" y="2860715"/>
            <a:ext cx="6725960" cy="1076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Uniquely merges social networking with structured recipe sharing — bridging the gap between casual food lovers and professional chefs.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74356" y="4384238"/>
            <a:ext cx="562808" cy="56280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116485" y="4384238"/>
            <a:ext cx="2814399" cy="351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Chef Recognition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7116485" y="4870133"/>
            <a:ext cx="6725960" cy="717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Verified chef profiles with credibility badges foster professional visibility and encourage high-quality content contributions.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74356" y="6034802"/>
            <a:ext cx="562808" cy="56280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116485" y="6034802"/>
            <a:ext cx="3057168" cy="351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Future: AI Integration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7116485" y="6520696"/>
            <a:ext cx="6725960" cy="1076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Planned features include AI-powered recipe recommendations, ingredient substitution suggestions, and personalized meal planning.</a:t>
            </a:r>
            <a:endParaRPr lang="en-US" sz="1750" dirty="0"/>
          </a:p>
        </p:txBody>
      </p:sp>
      <p:pic>
        <p:nvPicPr>
          <p:cNvPr id="13" name="Picture 2" descr="See the source image">
            <a:extLst>
              <a:ext uri="{FF2B5EF4-FFF2-40B4-BE49-F238E27FC236}">
                <a16:creationId xmlns:a16="http://schemas.microsoft.com/office/drawing/2014/main" id="{4884F34B-058E-4DB4-AF4E-223B98240B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15173" y="7405986"/>
            <a:ext cx="1735287" cy="823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4939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Utility to Society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875741" y="1990163"/>
            <a:ext cx="2835235" cy="353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Who Benefits?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75741" y="2775554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TastyTalks serves a broad and diverse audience, creating measurable value across multiple user groups: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793790" y="4932045"/>
            <a:ext cx="4196358" cy="2448044"/>
          </a:xfrm>
          <a:prstGeom prst="roundRect">
            <a:avLst>
              <a:gd name="adj" fmla="val 5976"/>
            </a:avLst>
          </a:prstGeom>
          <a:solidFill>
            <a:srgbClr val="FFFFFF"/>
          </a:solidFill>
          <a:ln w="30480">
            <a:solidFill>
              <a:srgbClr val="C5C7D2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310" y="4932045"/>
            <a:ext cx="121920" cy="24480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42524" y="5189339"/>
            <a:ext cx="35903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Home Cooks &amp; Beginners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1142524" y="6034088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Access structured, validated recipes with community guidance.</a:t>
            </a:r>
            <a:endParaRPr lang="en-US" sz="1750" dirty="0"/>
          </a:p>
        </p:txBody>
      </p:sp>
      <p:sp>
        <p:nvSpPr>
          <p:cNvPr id="10" name="Shape 6"/>
          <p:cNvSpPr/>
          <p:nvPr/>
        </p:nvSpPr>
        <p:spPr>
          <a:xfrm>
            <a:off x="5216962" y="4932045"/>
            <a:ext cx="4196358" cy="2448044"/>
          </a:xfrm>
          <a:prstGeom prst="roundRect">
            <a:avLst>
              <a:gd name="adj" fmla="val 5976"/>
            </a:avLst>
          </a:prstGeom>
          <a:solidFill>
            <a:srgbClr val="FFFFFF"/>
          </a:solidFill>
          <a:ln w="30480">
            <a:solidFill>
              <a:srgbClr val="C5C7D2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6482" y="4932045"/>
            <a:ext cx="121920" cy="244804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565696" y="51893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Professional Chefs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5565696" y="5679758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Build a following, share expertise, and gain recognition.</a:t>
            </a:r>
            <a:endParaRPr lang="en-US" sz="1750" dirty="0"/>
          </a:p>
        </p:txBody>
      </p:sp>
      <p:sp>
        <p:nvSpPr>
          <p:cNvPr id="14" name="Shape 9"/>
          <p:cNvSpPr/>
          <p:nvPr/>
        </p:nvSpPr>
        <p:spPr>
          <a:xfrm>
            <a:off x="9640133" y="4932045"/>
            <a:ext cx="4196358" cy="2448044"/>
          </a:xfrm>
          <a:prstGeom prst="roundRect">
            <a:avLst>
              <a:gd name="adj" fmla="val 5976"/>
            </a:avLst>
          </a:prstGeom>
          <a:solidFill>
            <a:srgbClr val="FFFFFF"/>
          </a:solidFill>
          <a:ln w="30480">
            <a:solidFill>
              <a:srgbClr val="C5C7D2"/>
            </a:solidFill>
            <a:prstDash val="solid"/>
          </a:ln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9653" y="4932045"/>
            <a:ext cx="121920" cy="244804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988868" y="51893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Food Communities</a:t>
            </a:r>
            <a:endParaRPr lang="en-US" sz="2200" dirty="0"/>
          </a:p>
        </p:txBody>
      </p:sp>
      <p:sp>
        <p:nvSpPr>
          <p:cNvPr id="17" name="Text 11"/>
          <p:cNvSpPr/>
          <p:nvPr/>
        </p:nvSpPr>
        <p:spPr>
          <a:xfrm>
            <a:off x="9988868" y="5679758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Engage in collaborative cooking culture and knowledge exchange.</a:t>
            </a:r>
            <a:endParaRPr lang="en-US" sz="1750" dirty="0"/>
          </a:p>
        </p:txBody>
      </p:sp>
      <p:pic>
        <p:nvPicPr>
          <p:cNvPr id="18" name="Picture 2" descr="See the source image">
            <a:extLst>
              <a:ext uri="{FF2B5EF4-FFF2-40B4-BE49-F238E27FC236}">
                <a16:creationId xmlns:a16="http://schemas.microsoft.com/office/drawing/2014/main" id="{D344DF0B-44D2-4535-8AD1-DD78CFAA44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15173" y="7405986"/>
            <a:ext cx="1735287" cy="823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BBF1943-C142-4F3E-897E-33C830CCEC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820" y="570154"/>
            <a:ext cx="6102719" cy="305517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726C33F-A584-49DF-AA3C-A5A22EA056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820" y="4038521"/>
            <a:ext cx="6131859" cy="320772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ABE85B1-E219-4F5A-8C38-8653FBE03F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3427" y="4170027"/>
            <a:ext cx="5174992" cy="314760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10E628B-25F9-4F91-9549-E07821DCCC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0" y="566486"/>
            <a:ext cx="4928543" cy="3147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5501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EC9B15E-8B2D-4699-B32B-C212ADE6A5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579" y="570155"/>
            <a:ext cx="7539627" cy="286153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08EF646-3640-44C7-B472-6B21AB1AFD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4789" y="391421"/>
            <a:ext cx="4159005" cy="321900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75B6DB8-7E14-4C37-9F57-7154F4BE8C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579" y="4114800"/>
            <a:ext cx="7646747" cy="286153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4573153-4E29-48AA-9893-DFAC7D1E4E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4788" y="3829721"/>
            <a:ext cx="4159005" cy="413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5622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14ED155-1E4D-42C3-9F35-7BC9FC5CEB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901" y="889186"/>
            <a:ext cx="6780474" cy="567667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B864310-7825-4A1F-BCBC-1B32005E78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7059" y="889186"/>
            <a:ext cx="6649440" cy="5676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4531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105941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Conclusion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2108359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TastyTalks demonstrates a technically robust, socially impactful, and academically rigorous solution to modern recipe-sharing challenges.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3089315"/>
            <a:ext cx="7556421" cy="4080748"/>
          </a:xfrm>
          <a:prstGeom prst="roundRect">
            <a:avLst>
              <a:gd name="adj" fmla="val 5003"/>
            </a:avLst>
          </a:prstGeom>
          <a:solidFill>
            <a:srgbClr val="EFF0F6"/>
          </a:solidFill>
          <a:ln w="7620">
            <a:solidFill>
              <a:srgbClr val="C5C7D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01410" y="3096935"/>
            <a:ext cx="3770590" cy="2395657"/>
          </a:xfrm>
          <a:prstGeom prst="roundRect">
            <a:avLst>
              <a:gd name="adj" fmla="val 8521"/>
            </a:avLst>
          </a:prstGeom>
          <a:solidFill>
            <a:srgbClr val="EFF0F6"/>
          </a:solidFill>
          <a:ln/>
        </p:spPr>
      </p:sp>
      <p:sp>
        <p:nvSpPr>
          <p:cNvPr id="7" name="Text 4"/>
          <p:cNvSpPr/>
          <p:nvPr/>
        </p:nvSpPr>
        <p:spPr>
          <a:xfrm>
            <a:off x="1028224" y="3323749"/>
            <a:ext cx="303526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System Effectiveness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28224" y="3814167"/>
            <a:ext cx="3316962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Validated content pipeline and moderation ensure reliable, high-quality recipe data at scale.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4572000" y="3096935"/>
            <a:ext cx="3770590" cy="2395657"/>
          </a:xfrm>
          <a:prstGeom prst="rect">
            <a:avLst/>
          </a:prstGeom>
          <a:solidFill>
            <a:srgbClr val="EFF0F6"/>
          </a:solidFill>
          <a:ln/>
        </p:spPr>
      </p:sp>
      <p:sp>
        <p:nvSpPr>
          <p:cNvPr id="10" name="Shape 7"/>
          <p:cNvSpPr/>
          <p:nvPr/>
        </p:nvSpPr>
        <p:spPr>
          <a:xfrm>
            <a:off x="4572000" y="3096935"/>
            <a:ext cx="30480" cy="2395657"/>
          </a:xfrm>
          <a:prstGeom prst="roundRect">
            <a:avLst>
              <a:gd name="adj" fmla="val 669768"/>
            </a:avLst>
          </a:prstGeom>
          <a:solidFill>
            <a:srgbClr val="C5C7D2"/>
          </a:solidFill>
          <a:ln/>
        </p:spPr>
      </p:sp>
      <p:sp>
        <p:nvSpPr>
          <p:cNvPr id="11" name="Text 8"/>
          <p:cNvSpPr/>
          <p:nvPr/>
        </p:nvSpPr>
        <p:spPr>
          <a:xfrm>
            <a:off x="4798814" y="332374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Technical Strength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4798814" y="3814167"/>
            <a:ext cx="3316962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React, Spring Boot, and MySQL deliver a secure, performant, and maintainable full-stack architecture.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801410" y="5492591"/>
            <a:ext cx="7541181" cy="1669852"/>
          </a:xfrm>
          <a:prstGeom prst="rect">
            <a:avLst/>
          </a:prstGeom>
          <a:solidFill>
            <a:srgbClr val="EFF0F6"/>
          </a:solidFill>
          <a:ln/>
        </p:spPr>
      </p:sp>
      <p:sp>
        <p:nvSpPr>
          <p:cNvPr id="14" name="Shape 11"/>
          <p:cNvSpPr/>
          <p:nvPr/>
        </p:nvSpPr>
        <p:spPr>
          <a:xfrm>
            <a:off x="801410" y="5492591"/>
            <a:ext cx="7541181" cy="30480"/>
          </a:xfrm>
          <a:prstGeom prst="roundRect">
            <a:avLst>
              <a:gd name="adj" fmla="val 669768"/>
            </a:avLst>
          </a:prstGeom>
          <a:solidFill>
            <a:srgbClr val="C5C7D2"/>
          </a:solidFill>
          <a:ln/>
        </p:spPr>
      </p:sp>
      <p:sp>
        <p:nvSpPr>
          <p:cNvPr id="15" name="Text 12"/>
          <p:cNvSpPr/>
          <p:nvPr/>
        </p:nvSpPr>
        <p:spPr>
          <a:xfrm>
            <a:off x="1028224" y="5719405"/>
            <a:ext cx="344983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Real-World Applicability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1028224" y="6209824"/>
            <a:ext cx="70875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With planned AI features and a scalable design, TastyTalks is positioned for meaningful, long-term societal impact.</a:t>
            </a:r>
            <a:endParaRPr lang="en-US" sz="1750" dirty="0"/>
          </a:p>
        </p:txBody>
      </p:sp>
      <p:pic>
        <p:nvPicPr>
          <p:cNvPr id="17" name="Picture 2" descr="See the source image">
            <a:extLst>
              <a:ext uri="{FF2B5EF4-FFF2-40B4-BE49-F238E27FC236}">
                <a16:creationId xmlns:a16="http://schemas.microsoft.com/office/drawing/2014/main" id="{0D9A3CF2-1A77-42A9-A7AA-3BB30B35C5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15173" y="7405986"/>
            <a:ext cx="1735287" cy="823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58870DE-C85E-4DF4-823A-B5C4EEBBA980}"/>
              </a:ext>
            </a:extLst>
          </p:cNvPr>
          <p:cNvSpPr txBox="1"/>
          <p:nvPr/>
        </p:nvSpPr>
        <p:spPr>
          <a:xfrm>
            <a:off x="-1678192" y="2148975"/>
            <a:ext cx="94667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latin typeface="Montserrat Medium" panose="020B0604020202020204" charset="0"/>
              </a:rPr>
              <a:t>THANK YOU</a:t>
            </a:r>
            <a:endParaRPr lang="en-IN" sz="4400" dirty="0">
              <a:latin typeface="Montserrat Medium" panose="020B060402020202020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CEE2B2-B8CA-479D-8AB0-76C031274021}"/>
              </a:ext>
            </a:extLst>
          </p:cNvPr>
          <p:cNvSpPr txBox="1"/>
          <p:nvPr/>
        </p:nvSpPr>
        <p:spPr>
          <a:xfrm>
            <a:off x="3657601" y="3102149"/>
            <a:ext cx="843399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2410030076 – KODALI NAGA SREEJA </a:t>
            </a:r>
          </a:p>
          <a:p>
            <a:r>
              <a:rPr lang="en-US" sz="2000" dirty="0"/>
              <a:t>2410030180 – ANUGU SHIVA KUMAR REDDY</a:t>
            </a:r>
          </a:p>
          <a:p>
            <a:r>
              <a:rPr lang="en-US" sz="2000" dirty="0"/>
              <a:t>2410030228 – BIJJU ADITHI YADAV</a:t>
            </a:r>
          </a:p>
          <a:p>
            <a:r>
              <a:rPr lang="en-US" sz="2000" dirty="0"/>
              <a:t>2410030229 – </a:t>
            </a:r>
            <a:r>
              <a:rPr lang="en-US" sz="2000"/>
              <a:t>LIKITHA THUMMA </a:t>
            </a:r>
            <a:endParaRPr lang="en-US" sz="2000" dirty="0"/>
          </a:p>
          <a:p>
            <a:r>
              <a:rPr lang="en-US" sz="2000" dirty="0"/>
              <a:t>2410030232 – H. ESHA MANOGNA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7292727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438</Words>
  <Application>Microsoft Office PowerPoint</Application>
  <PresentationFormat>Custom</PresentationFormat>
  <Paragraphs>64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Montserrat Medium</vt:lpstr>
      <vt:lpstr>Calibri</vt:lpstr>
      <vt:lpstr>Arial</vt:lpstr>
      <vt:lpstr>Inter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Admin</dc:creator>
  <cp:lastModifiedBy>Admin</cp:lastModifiedBy>
  <cp:revision>5</cp:revision>
  <dcterms:created xsi:type="dcterms:W3CDTF">2026-03-31T05:51:05Z</dcterms:created>
  <dcterms:modified xsi:type="dcterms:W3CDTF">2026-04-07T10:28:44Z</dcterms:modified>
</cp:coreProperties>
</file>