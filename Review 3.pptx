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Inter Light" panose="020B0604020202020204" charset="0"/>
      <p:regular r:id="rId14"/>
    </p:embeddedFont>
    <p:embeddedFont>
      <p:font typeface="Montserrat Medium" panose="020B0604020202020204" charset="0"/>
      <p:regular r:id="rId15"/>
    </p:embeddedFont>
    <p:embeddedFont>
      <p:font typeface="Tahoma" panose="020B0604030504040204" pitchFamily="3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47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99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 err="1">
                <a:solidFill>
                  <a:srgbClr val="74767D"/>
                </a:solidFill>
                <a:latin typeface="Montserrat Medium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TastyTalks</a:t>
            </a:r>
            <a:r>
              <a:rPr lang="en-US" sz="4800" dirty="0">
                <a:solidFill>
                  <a:srgbClr val="74767D"/>
                </a:solidFill>
                <a:latin typeface="Montserrat Medium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/>
            </a:r>
            <a:endParaRPr lang="en-US" sz="4800" dirty="0">
              <a:latin typeface="Montserrat Medium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712771" y="2144454"/>
            <a:ext cx="7123839" cy="469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4000" dirty="0">
                <a:solidFill>
                  <a:srgbClr val="74767D"/>
                </a:solidFill>
                <a:latin typeface="Montserrat Medium" panose="020B0604020202020204" charset="0"/>
                <a:ea typeface="Montserrat Medium" pitchFamily="34" charset="-122"/>
                <a:cs typeface="Times New Roman" panose="02020603050405020304" pitchFamily="18" charset="0"/>
              </a:rPr>
              <a:t>An Engaging Social Platform for Food Enthusiasts, Chefs &amp; Recipe Communities</a:t>
            </a:r>
            <a:endParaRPr lang="en-US" sz="4000" dirty="0">
              <a:latin typeface="Montserrat Medium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7293564"/>
            <a:ext cx="7556421" cy="35957"/>
          </a:xfrm>
          <a:prstGeom prst="rect">
            <a:avLst/>
          </a:prstGeom>
          <a:solidFill>
            <a:srgbClr val="3D3E44">
              <a:alpha val="50000"/>
            </a:srgbClr>
          </a:solidFill>
          <a:ln/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7E33A3-FD25-4681-83D6-A425E9EE1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539" y="7342271"/>
            <a:ext cx="1914861" cy="9088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520" y="1530548"/>
            <a:ext cx="743307" cy="257413"/>
          </a:xfrm>
          <a:prstGeom prst="roundRect">
            <a:avLst>
              <a:gd name="adj" fmla="val 43041"/>
            </a:avLst>
          </a:prstGeom>
          <a:solidFill>
            <a:srgbClr val="DFE1EC"/>
          </a:solidFill>
          <a:ln/>
        </p:spPr>
      </p:sp>
      <p:sp>
        <p:nvSpPr>
          <p:cNvPr id="4" name="Text 1"/>
          <p:cNvSpPr/>
          <p:nvPr/>
        </p:nvSpPr>
        <p:spPr>
          <a:xfrm>
            <a:off x="630793" y="1576626"/>
            <a:ext cx="558760" cy="165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NOVELTY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38520" y="1829633"/>
            <a:ext cx="6236613" cy="480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74767D"/>
                </a:solidFill>
                <a:latin typeface="Inter Light" panose="020B0604020202020204" charset="0"/>
                <a:ea typeface="Inter Light" panose="020B0604020202020204" charset="0"/>
                <a:cs typeface="Times New Roman" panose="02020603050405020304" pitchFamily="18" charset="0"/>
              </a:rPr>
              <a:t>What Makes TastyTalks Unique?</a:t>
            </a:r>
            <a:endParaRPr lang="en-US" sz="3000" dirty="0">
              <a:latin typeface="Inter Light" panose="020B0604020202020204" charset="0"/>
              <a:ea typeface="Inter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8520" y="2466975"/>
            <a:ext cx="8066961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anose="020B0604020202020204" charset="0"/>
                <a:ea typeface="Inter Light" panose="020B0604020202020204" charset="0"/>
                <a:cs typeface="Times New Roman" panose="02020603050405020304" pitchFamily="18" charset="0"/>
              </a:rPr>
              <a:t>TastyTalks introduces a structured, role-based social platform purpose-built for the food community — combining interaction, moderation, and engagement in one cohesive system.</a:t>
            </a:r>
            <a:endParaRPr lang="en-US" sz="1200" dirty="0">
              <a:latin typeface="Inter Light" panose="020B0604020202020204" charset="0"/>
              <a:ea typeface="Inter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520" y="2997279"/>
            <a:ext cx="307658" cy="3076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6551" y="3050143"/>
            <a:ext cx="2233613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Role-Based Interaction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76551" y="3353276"/>
            <a:ext cx="7628930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Three distinct roles — </a:t>
            </a:r>
            <a:r>
              <a:rPr lang="en-US" sz="12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Foodie, Chef, and Admin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each with tailored permissions and capabilities, enabling meaningful, context-aware participation.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520" y="3974902"/>
            <a:ext cx="307658" cy="3076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6551" y="4027765"/>
            <a:ext cx="1923455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Moderated Content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76551" y="4330898"/>
            <a:ext cx="7628930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Admins oversee posts and recipes to maintain quality standards, ensuring a trustworthy and spam-free environment for all users.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8520" y="4952524"/>
            <a:ext cx="307658" cy="3076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6551" y="5005388"/>
            <a:ext cx="2063234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Structured Feedback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76551" y="5308521"/>
            <a:ext cx="7628930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Users can rate, review, and comment on recipes with a guided feedback format that promotes constructive, organized dialogue.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520" y="5930146"/>
            <a:ext cx="307658" cy="30765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6551" y="5983010"/>
            <a:ext cx="2496503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Community Engagement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976551" y="6286143"/>
            <a:ext cx="7628930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Follow systems, recipe collections, and trending feeds encourage ongoing discovery and foster a vibrant culinary community.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3244" y="436483"/>
            <a:ext cx="1027271" cy="264319"/>
          </a:xfrm>
          <a:prstGeom prst="roundRect">
            <a:avLst>
              <a:gd name="adj" fmla="val 40835"/>
            </a:avLst>
          </a:prstGeom>
          <a:noFill/>
          <a:ln w="7620">
            <a:solidFill>
              <a:srgbClr val="C6C9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40756" y="488990"/>
            <a:ext cx="832247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C6C9D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ADAPTABILITY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43244" y="740331"/>
            <a:ext cx="7107555" cy="46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Flexible, Future-Ready Architecture</a:t>
            </a:r>
            <a:endParaRPr lang="en-US" sz="2950" dirty="0"/>
          </a:p>
        </p:txBody>
      </p:sp>
      <p:sp>
        <p:nvSpPr>
          <p:cNvPr id="7" name="Text 3"/>
          <p:cNvSpPr/>
          <p:nvPr/>
        </p:nvSpPr>
        <p:spPr>
          <a:xfrm>
            <a:off x="2240756" y="1774885"/>
            <a:ext cx="2579410" cy="274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Built to Grow Beyond Food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2199442" y="2398960"/>
            <a:ext cx="6822638" cy="2274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TastyTalks is designed with extensibility at its core. The platform's architecture does not lock it into a single domain — the same role-based and modular framework can be re-deployed for fitness coaching, travel journaling, or DIY crafts communities.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0849" y="3845242"/>
            <a:ext cx="224790" cy="224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08746" y="3845242"/>
            <a:ext cx="4622840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Role and permission logic is </a:t>
            </a: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domain-agnostic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0849" y="4375071"/>
            <a:ext cx="224790" cy="2247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508746" y="4366380"/>
            <a:ext cx="4622959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Cloud deployment supports </a:t>
            </a: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horizontal scaling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1618" y="4913433"/>
            <a:ext cx="224790" cy="22479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508865" y="4887518"/>
            <a:ext cx="4622840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recommendation engine planned for </a:t>
            </a: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Phase 2</a:t>
            </a:r>
            <a:endParaRPr lang="en-US" sz="11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1618" y="5516314"/>
            <a:ext cx="224790" cy="22479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508865" y="5529172"/>
            <a:ext cx="4622959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Mobile-first expansion targeted for </a:t>
            </a: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future releases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C4A08A5-6BA8-4F99-805F-21D269AB3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3040" y="7426518"/>
            <a:ext cx="1737360" cy="8245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908" y="1004054"/>
            <a:ext cx="1158954" cy="335280"/>
          </a:xfrm>
          <a:prstGeom prst="roundRect">
            <a:avLst>
              <a:gd name="adj" fmla="val 40623"/>
            </a:avLst>
          </a:prstGeom>
          <a:solidFill>
            <a:srgbClr val="DFE1EC"/>
          </a:solidFill>
          <a:ln/>
        </p:spPr>
      </p:sp>
      <p:sp>
        <p:nvSpPr>
          <p:cNvPr id="3" name="Text 1"/>
          <p:cNvSpPr/>
          <p:nvPr/>
        </p:nvSpPr>
        <p:spPr>
          <a:xfrm>
            <a:off x="902375" y="1060728"/>
            <a:ext cx="932021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8908" y="1402437"/>
            <a:ext cx="6937415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How the System is Evaluated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88908" y="2230160"/>
            <a:ext cx="13052584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TastyTalks is assessed across five key dimensions that together reflect both technical robustness and real-world usability.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8908" y="2968823"/>
            <a:ext cx="4245650" cy="2185154"/>
          </a:xfrm>
          <a:prstGeom prst="roundRect">
            <a:avLst>
              <a:gd name="adj" fmla="val 5022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08" y="2945963"/>
            <a:ext cx="4245650" cy="914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947" y="2685098"/>
            <a:ext cx="567452" cy="5674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98207" y="2826901"/>
            <a:ext cx="226933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000839" y="3441740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 Engagement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000839" y="3831908"/>
            <a:ext cx="3821787" cy="111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Measured through likes, comments, shares, and session duration — indicating content resonance and community activity levels.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192316" y="2968823"/>
            <a:ext cx="4245650" cy="2185154"/>
          </a:xfrm>
          <a:prstGeom prst="roundRect">
            <a:avLst>
              <a:gd name="adj" fmla="val 5022"/>
            </a:avLst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316" y="2945963"/>
            <a:ext cx="4245650" cy="9144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355" y="2685098"/>
            <a:ext cx="567452" cy="5674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01614" y="2826901"/>
            <a:ext cx="226933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5404247" y="3441740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Content Quality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5404247" y="3831908"/>
            <a:ext cx="3821787" cy="111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Assessed by structured ratings and peer reviews — ensuring recipes meet community standards for clarity and accuracy.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9595723" y="2968823"/>
            <a:ext cx="4245769" cy="2185154"/>
          </a:xfrm>
          <a:prstGeom prst="roundRect">
            <a:avLst>
              <a:gd name="adj" fmla="val 5022"/>
            </a:avLst>
          </a:prstGeom>
          <a:solidFill>
            <a:srgbClr val="FFFFF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723" y="2945963"/>
            <a:ext cx="4245769" cy="91440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4882" y="2685098"/>
            <a:ext cx="567452" cy="56745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605141" y="2826901"/>
            <a:ext cx="226933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1750" dirty="0"/>
          </a:p>
        </p:txBody>
      </p:sp>
      <p:sp>
        <p:nvSpPr>
          <p:cNvPr id="22" name="Text 14"/>
          <p:cNvSpPr/>
          <p:nvPr/>
        </p:nvSpPr>
        <p:spPr>
          <a:xfrm>
            <a:off x="9807654" y="3441740"/>
            <a:ext cx="3032284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Moderation Effectiveness</a:t>
            </a:r>
            <a:endParaRPr lang="en-US" sz="1850" dirty="0"/>
          </a:p>
        </p:txBody>
      </p:sp>
      <p:sp>
        <p:nvSpPr>
          <p:cNvPr id="23" name="Text 15"/>
          <p:cNvSpPr/>
          <p:nvPr/>
        </p:nvSpPr>
        <p:spPr>
          <a:xfrm>
            <a:off x="9807654" y="3831908"/>
            <a:ext cx="3821906" cy="83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Tracked via flagged content resolution rates and admin response times — reflecting platform safety and reliability.</a:t>
            </a:r>
            <a:endParaRPr lang="en-US" sz="1450" dirty="0"/>
          </a:p>
        </p:txBody>
      </p:sp>
      <p:sp>
        <p:nvSpPr>
          <p:cNvPr id="24" name="Shape 16"/>
          <p:cNvSpPr/>
          <p:nvPr/>
        </p:nvSpPr>
        <p:spPr>
          <a:xfrm>
            <a:off x="788908" y="5595461"/>
            <a:ext cx="6447353" cy="1630085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08" y="5572601"/>
            <a:ext cx="6447353" cy="9144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799" y="5311735"/>
            <a:ext cx="567452" cy="56745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899059" y="5453539"/>
            <a:ext cx="226933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8" name="Text 18"/>
          <p:cNvSpPr/>
          <p:nvPr/>
        </p:nvSpPr>
        <p:spPr>
          <a:xfrm>
            <a:off x="1000839" y="6068378"/>
            <a:ext cx="2513290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System Performance</a:t>
            </a:r>
            <a:endParaRPr lang="en-US" sz="1850" dirty="0"/>
          </a:p>
        </p:txBody>
      </p:sp>
      <p:sp>
        <p:nvSpPr>
          <p:cNvPr id="29" name="Text 19"/>
          <p:cNvSpPr/>
          <p:nvPr/>
        </p:nvSpPr>
        <p:spPr>
          <a:xfrm>
            <a:off x="1000839" y="6458545"/>
            <a:ext cx="6023491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Evaluated on page load speed, uptime, and API response times under simulated user loads.</a:t>
            </a:r>
            <a:endParaRPr lang="en-US" sz="1450" dirty="0"/>
          </a:p>
        </p:txBody>
      </p:sp>
      <p:sp>
        <p:nvSpPr>
          <p:cNvPr id="30" name="Shape 20"/>
          <p:cNvSpPr/>
          <p:nvPr/>
        </p:nvSpPr>
        <p:spPr>
          <a:xfrm>
            <a:off x="7394019" y="5595461"/>
            <a:ext cx="6447473" cy="1630085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/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019" y="5572601"/>
            <a:ext cx="6447473" cy="91440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4030" y="5311735"/>
            <a:ext cx="567452" cy="56745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10504289" y="5453539"/>
            <a:ext cx="226933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</a:t>
            </a:r>
            <a:endParaRPr lang="en-US" sz="1750" dirty="0"/>
          </a:p>
        </p:txBody>
      </p:sp>
      <p:sp>
        <p:nvSpPr>
          <p:cNvPr id="34" name="Text 22"/>
          <p:cNvSpPr/>
          <p:nvPr/>
        </p:nvSpPr>
        <p:spPr>
          <a:xfrm>
            <a:off x="7605951" y="6068378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 Trust</a:t>
            </a:r>
            <a:endParaRPr lang="en-US" sz="1850" dirty="0"/>
          </a:p>
        </p:txBody>
      </p:sp>
      <p:sp>
        <p:nvSpPr>
          <p:cNvPr id="35" name="Text 23"/>
          <p:cNvSpPr/>
          <p:nvPr/>
        </p:nvSpPr>
        <p:spPr>
          <a:xfrm>
            <a:off x="7605951" y="6458545"/>
            <a:ext cx="6023610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Gauged through onboarding surveys and post-session feedback — measuring confidence in platform safety and content integrity.</a:t>
            </a:r>
            <a:endParaRPr lang="en-US" sz="14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4127B3F-5BB8-4D45-B349-09257339F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9938" y="7401314"/>
            <a:ext cx="1790462" cy="8498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6950" y="1047036"/>
            <a:ext cx="1236345" cy="315992"/>
          </a:xfrm>
          <a:prstGeom prst="roundRect">
            <a:avLst>
              <a:gd name="adj" fmla="val 39616"/>
            </a:avLst>
          </a:prstGeom>
          <a:noFill/>
          <a:ln w="7620">
            <a:solidFill>
              <a:srgbClr val="C6C9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28869" y="1106805"/>
            <a:ext cx="1012508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C6C9D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16950" y="1416248"/>
            <a:ext cx="6416159" cy="54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Dissemination &amp; Accessibility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316950" y="2309217"/>
            <a:ext cx="2826425" cy="2676525"/>
          </a:xfrm>
          <a:prstGeom prst="roundRect">
            <a:avLst>
              <a:gd name="adj" fmla="val 5846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402" y="2490668"/>
            <a:ext cx="521494" cy="52149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1753" y="2634020"/>
            <a:ext cx="234672" cy="2346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98402" y="3145393"/>
            <a:ext cx="2173248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Web-Based Access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498402" y="3550206"/>
            <a:ext cx="2463522" cy="98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Fully browser-accessible — no installation required. Works on desktop, tablet, and mobile browsers.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76606" y="2309217"/>
            <a:ext cx="2826544" cy="2676525"/>
          </a:xfrm>
          <a:prstGeom prst="roundRect">
            <a:avLst>
              <a:gd name="adj" fmla="val 5846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8057" y="2490668"/>
            <a:ext cx="521494" cy="52149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1408" y="2634020"/>
            <a:ext cx="234672" cy="2346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58057" y="3145393"/>
            <a:ext cx="2463641" cy="543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Cloud Deployment Ready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4458057" y="3821787"/>
            <a:ext cx="2463641" cy="98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Compatible with platforms like AWS, Google Cloud, and Azure for scalable, low-latency delivery.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1316950" y="5118973"/>
            <a:ext cx="5786199" cy="1913692"/>
          </a:xfrm>
          <a:prstGeom prst="roundRect">
            <a:avLst>
              <a:gd name="adj" fmla="val 817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8402" y="5300424"/>
            <a:ext cx="521494" cy="521494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1753" y="5443776"/>
            <a:ext cx="234672" cy="23467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498402" y="5955149"/>
            <a:ext cx="250150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Future Mobile Support</a:t>
            </a:r>
            <a:endParaRPr lang="en-US" sz="1700" dirty="0"/>
          </a:p>
        </p:txBody>
      </p:sp>
      <p:sp>
        <p:nvSpPr>
          <p:cNvPr id="19" name="Text 11"/>
          <p:cNvSpPr/>
          <p:nvPr/>
        </p:nvSpPr>
        <p:spPr>
          <a:xfrm>
            <a:off x="1498402" y="6359962"/>
            <a:ext cx="5423297" cy="49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dedicated mobile application is planned as a next-phase enhancement for on-the-go access.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7409736" y="2159318"/>
            <a:ext cx="6036469" cy="5023247"/>
          </a:xfrm>
          <a:prstGeom prst="roundRect">
            <a:avLst>
              <a:gd name="adj" fmla="val 4984"/>
            </a:avLst>
          </a:prstGeom>
          <a:solidFill>
            <a:srgbClr val="C4D5EF"/>
          </a:solidFill>
          <a:ln/>
        </p:spPr>
      </p:sp>
      <p:sp>
        <p:nvSpPr>
          <p:cNvPr id="21" name="Text 13"/>
          <p:cNvSpPr/>
          <p:nvPr/>
        </p:nvSpPr>
        <p:spPr>
          <a:xfrm>
            <a:off x="7583567" y="2292548"/>
            <a:ext cx="250067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Designed for Everyone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7583567" y="2697361"/>
            <a:ext cx="5688806" cy="736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TastyTalks prioritizes </a:t>
            </a:r>
            <a:r>
              <a:rPr lang="en-US" sz="13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ease of use</a:t>
            </a: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above all. The interface follows intuitive navigation patterns so that both tech-savvy chefs and casual foodies can engage without friction.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7583567" y="3554135"/>
            <a:ext cx="5688806" cy="82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Responsive layout adapts to all screen sizes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Minimal learning curve with guided onboarding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Lightweight front-end ensures fast loading</a:t>
            </a: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817ED48-84C4-45EB-8984-379A8B5B56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15539" y="7342271"/>
            <a:ext cx="1914861" cy="9088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6374" y="566738"/>
            <a:ext cx="1109424" cy="291227"/>
          </a:xfrm>
          <a:prstGeom prst="roundRect">
            <a:avLst>
              <a:gd name="adj" fmla="val 41913"/>
            </a:avLst>
          </a:prstGeom>
          <a:solidFill>
            <a:srgbClr val="DFE1EC"/>
          </a:solidFill>
          <a:ln/>
        </p:spPr>
      </p:sp>
      <p:sp>
        <p:nvSpPr>
          <p:cNvPr id="3" name="Text 1"/>
          <p:cNvSpPr/>
          <p:nvPr/>
        </p:nvSpPr>
        <p:spPr>
          <a:xfrm>
            <a:off x="1568053" y="617577"/>
            <a:ext cx="906066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66374" y="908566"/>
            <a:ext cx="7592735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TastyTalks: A Platform That Delivers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374" y="1770936"/>
            <a:ext cx="7458670" cy="4162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46287" y="3070622"/>
            <a:ext cx="211907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Takeaways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346287" y="3462218"/>
            <a:ext cx="3825240" cy="118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TastyTalks demonstrates that a well-structured, role-based social platform can meaningfully elevate community interaction around food — with the design principles transferable to many other domains.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6374" y="6218873"/>
            <a:ext cx="3814763" cy="1443871"/>
          </a:xfrm>
          <a:prstGeom prst="roundRect">
            <a:avLst>
              <a:gd name="adj" fmla="val 7600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514" y="6218873"/>
            <a:ext cx="91440" cy="14438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27240" y="6411158"/>
            <a:ext cx="2119074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🍴</a:t>
            </a: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Innovation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727240" y="6759654"/>
            <a:ext cx="3361611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Role-based architecture and structured feedback distinguish TastyTalks from generic social platforms.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07819" y="6218873"/>
            <a:ext cx="3814763" cy="1443871"/>
          </a:xfrm>
          <a:prstGeom prst="roundRect">
            <a:avLst>
              <a:gd name="adj" fmla="val 7600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959" y="6218873"/>
            <a:ext cx="91440" cy="144387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8685" y="6411158"/>
            <a:ext cx="2119074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📈</a:t>
            </a: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Scalability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5668685" y="6759654"/>
            <a:ext cx="3361611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Modular design and cloud readiness position the system for growth beyond its initial scope.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349264" y="6218873"/>
            <a:ext cx="3814763" cy="1443871"/>
          </a:xfrm>
          <a:prstGeom prst="roundRect">
            <a:avLst>
              <a:gd name="adj" fmla="val 7600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404" y="6218873"/>
            <a:ext cx="91440" cy="144387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10130" y="6411158"/>
            <a:ext cx="2899529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🌐</a:t>
            </a: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Real-World Applicability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610130" y="6759654"/>
            <a:ext cx="3361611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Deployable today, extensible tomorrow — TastyTalks is production-ready for real community use.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BDEF3D9-2832-4839-BB74-41FB560B8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03160" y="7431321"/>
            <a:ext cx="1727240" cy="819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797ECC-B8F7-426F-94D7-A554DAE9342F}"/>
              </a:ext>
            </a:extLst>
          </p:cNvPr>
          <p:cNvSpPr txBox="1"/>
          <p:nvPr/>
        </p:nvSpPr>
        <p:spPr>
          <a:xfrm>
            <a:off x="860612" y="2280621"/>
            <a:ext cx="58414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Montserrat Medium" panose="020B0604020202020204" charset="0"/>
              </a:rPr>
              <a:t>THANK YOU</a:t>
            </a:r>
            <a:endParaRPr lang="en-IN" sz="4400" dirty="0">
              <a:latin typeface="Montserrat Medium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C316F-59D5-43A1-856C-1A4CFAEE6E52}"/>
              </a:ext>
            </a:extLst>
          </p:cNvPr>
          <p:cNvSpPr txBox="1"/>
          <p:nvPr/>
        </p:nvSpPr>
        <p:spPr>
          <a:xfrm>
            <a:off x="3248809" y="3345628"/>
            <a:ext cx="71538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2410030076 – KODALI NAGA SREEJA</a:t>
            </a:r>
          </a:p>
          <a:p>
            <a:r>
              <a:rPr lang="en-US" sz="2000" dirty="0"/>
              <a:t>2410030180 – ANUGU SHIVA KUMAR REDDY</a:t>
            </a:r>
          </a:p>
          <a:p>
            <a:r>
              <a:rPr lang="en-US" sz="2000" dirty="0"/>
              <a:t>2410030228 – BIJJU ADITHI YADAV</a:t>
            </a:r>
          </a:p>
          <a:p>
            <a:r>
              <a:rPr lang="en-US" sz="2000" dirty="0"/>
              <a:t>2410030229 – LIKITHA THUMMA</a:t>
            </a:r>
          </a:p>
          <a:p>
            <a:r>
              <a:rPr lang="en-US" sz="2000" dirty="0"/>
              <a:t>2410030232 – H.ESHA MANOGNA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71609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568</Words>
  <Application>Microsoft Office PowerPoint</Application>
  <PresentationFormat>Custom</PresentationFormat>
  <Paragraphs>74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Tahoma</vt:lpstr>
      <vt:lpstr>Calibri</vt:lpstr>
      <vt:lpstr>Arial</vt:lpstr>
      <vt:lpstr>Montserrat Medium</vt:lpstr>
      <vt:lpstr>Inter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lastModifiedBy>Admin</cp:lastModifiedBy>
  <cp:revision>4</cp:revision>
  <dcterms:created xsi:type="dcterms:W3CDTF">2026-03-31T05:31:53Z</dcterms:created>
  <dcterms:modified xsi:type="dcterms:W3CDTF">2026-03-31T06:17:36Z</dcterms:modified>
</cp:coreProperties>
</file>